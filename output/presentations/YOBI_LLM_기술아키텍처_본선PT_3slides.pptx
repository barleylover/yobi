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06194f2b8448a1" /><Relationship Type="http://schemas.openxmlformats.org/officeDocument/2006/relationships/extended-properties" Target="/docProps/app.xml" Id="Rad31a28ad62d4c2f" /><Relationship Type="http://schemas.openxmlformats.org/officeDocument/2006/relationships/officeDocument" Target="/ppt/presentation.xml" Id="R2f28fa81f92c45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61ad19e1bb432d"/>
  </p:sldMasterIdLst>
  <p:notesMasterIdLst>
    <p:notesMasterId xmlns:r="http://schemas.openxmlformats.org/officeDocument/2006/relationships" r:id="Rb65f3ce3477e41e8"/>
  </p:notesMasterIdLst>
  <p:sldIdLst>
    <p:sldId xmlns:r="http://schemas.openxmlformats.org/officeDocument/2006/relationships" id="256" r:id="R9a1fd56724f442ca"/>
    <p:sldId xmlns:r="http://schemas.openxmlformats.org/officeDocument/2006/relationships" id="257" r:id="R51bcdff7176e4875"/>
    <p:sldId xmlns:r="http://schemas.openxmlformats.org/officeDocument/2006/relationships" id="258" r:id="Rb2d92b4b4e5548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c92d66c51941f1" /><Relationship Type="http://schemas.openxmlformats.org/officeDocument/2006/relationships/slideMaster" Target="/ppt/slideMasters/slideMaster1.xml" Id="R8561ad19e1bb432d" /><Relationship Type="http://schemas.openxmlformats.org/officeDocument/2006/relationships/notesMaster" Target="/ppt/notesMasters/notesMaster1.xml" Id="Rb65f3ce3477e41e8" /><Relationship Type="http://schemas.openxmlformats.org/officeDocument/2006/relationships/presProps" Target="/ppt/presProps.xml" Id="Rdc36c8a4b97f4072" /><Relationship Type="http://schemas.openxmlformats.org/officeDocument/2006/relationships/tableStyles" Target="/ppt/tableStyles.xml" Id="R2b05140b340a455a" /><Relationship Type="http://schemas.openxmlformats.org/officeDocument/2006/relationships/slide" Target="/ppt/slides/slide1.xml" Id="R9a1fd56724f442ca" /><Relationship Type="http://schemas.openxmlformats.org/officeDocument/2006/relationships/slide" Target="/ppt/slides/slide2.xml" Id="R51bcdff7176e4875" /><Relationship Type="http://schemas.openxmlformats.org/officeDocument/2006/relationships/slide" Target="/ppt/slides/slide3.xml" Id="Rb2d92b4b4e5548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ff703b220c4c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04800" dist="117818" dir="4557825">
              <a:srgbClr val="7A5CFF">
                <a:alpha val="16000"/>
              </a:srgbClr>
            </a:outerShdw>
          </a:effectLst>
        </a:effectStyle>
        <a:effectStyle>
          <a:effectLst>
            <a:outerShdw blurRad="381000" dist="157090" dir="4557825">
              <a:srgbClr val="7A5CFF">
                <a:alpha val="20000"/>
              </a:srgbClr>
            </a:outerShdw>
          </a:effectLst>
        </a:effectStyle>
        <a:effectStyle>
          <a:effectLst>
            <a:outerShdw blurRad="342900" dist="157090" dir="4557825">
              <a:srgbClr val="000000">
                <a:alpha val="22000"/>
              </a:srgbClr>
            </a:outerShdw>
          </a:effectLst>
        </a:effectStyle>
        <a:effectStyle>
          <a:effectLst>
            <a:outerShdw blurRad="323850" dist="138686" dir="4443276">
              <a:srgbClr val="000000">
                <a:alpha val="22000"/>
              </a:srgbClr>
            </a:outerShdw>
          </a:effectLst>
        </a:effectStyle>
        <a:effectStyle>
          <a:effectLst>
            <a:outerShdw blurRad="342900" dist="157090" dir="4557825">
              <a:srgbClr val="7A5CFF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4c2f2e18ef4803" /><Relationship Type="http://schemas.openxmlformats.org/officeDocument/2006/relationships/notesMaster" Target="/ppt/notesMasters/notesMaster1.xml" Id="Rebb9e411589b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e9991ce0f64ad4" /><Relationship Type="http://schemas.openxmlformats.org/officeDocument/2006/relationships/notesMaster" Target="/ppt/notesMasters/notesMaster1.xml" Id="Ra43b4ef666ab40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dabc1c9891460c" /><Relationship Type="http://schemas.openxmlformats.org/officeDocument/2006/relationships/notesMaster" Target="/ppt/notesMasters/notesMaster1.xml" Id="Rea5da418f9ad46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핵심은 LLM에게 추천 결정권을 주지 않았다는 점입니다. 사용자가 고른 조건을 서버가 먼저 검증하고, 명시 점수와 다양성 정책으로 최대 3개의 메뉴와 순서를 동결합니다. LLM은 그 결과와 음식 Wiki 근거만 받아 사용자의 언어로 선택 이유와 설명을 작성합니다. 모델이 실패하거나 응답이 계약을 어겨도 메뉴와 순위는 바뀌지 않고, 같은 결과를 결정론적 설명으로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/Users/kimjunggil/Documents/YOBI/mvp/docs/ARCHITECTURE.md, lines 37-83, accessed 2026-08-17</a:t>
            </a:r>
          </a:p>
          <a:p xmlns:a="http://schemas.openxmlformats.org/drawingml/2006/main">
            <a:r>
              <a:t>- /Users/kimjunggil/Documents/YOBI/mvp/docs/RAG_DESIGN.md, lines 9-25 and 129-183, accessed 2026-08-17</a:t>
            </a:r>
          </a:p>
          <a:p xmlns:a="http://schemas.openxmlformats.org/drawingml/2006/main">
            <a:r>
              <a:t>- /Users/kimjunggil/Documents/YOBI/mvp/backend/app/core/config.py, structured recommendation settings, accessed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음식 지식 Wiki는 기존에 있던 일반 서비스 명칭이 아니라 YOBI가 만든 내부 지식 계층입니다. 서로 다른 메뉴명을 cuisine-family-variant 개념에 연결하고, 이름과 별칭·핵심 재료와 조리 방식·맛과 식감·문화 맥락을 출처와 검토 상태와 함께 버전 관리합니다. 이 문서를 문단 단위로 나누고 임베딩해 RAG 근거로 씁니다. 중요한 경계는 일반 음식 지식이 특정 가게의 실제 레시피나 인증을 대신하지 않는다는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/Users/kimjunggil/Documents/YOBI/mvp/docs/ARCHITECTURE.md, lines 93-115, accessed 2026-08-17</a:t>
            </a:r>
          </a:p>
          <a:p xmlns:a="http://schemas.openxmlformats.org/drawingml/2006/main">
            <a:r>
              <a:t>- /Users/kimjunggil/Documents/YOBI/mvp/docs/RAG_DESIGN.md, lines 58-84, accessed 2026-08-17</a:t>
            </a:r>
          </a:p>
          <a:p xmlns:a="http://schemas.openxmlformats.org/drawingml/2006/main">
            <a:r>
              <a:t>- /Users/kimjunggil/Documents/YOBI/mvp/knowledge/dishes/korean/rice/gimbap.md, accessed 2026-08-17</a:t>
            </a:r>
          </a:p>
          <a:p xmlns:a="http://schemas.openxmlformats.org/drawingml/2006/main">
            <a:r>
              <a:t>- /Users/kimjunggil/Documents/YOBI/mvp/knowledge/dishes/korean/rice/gimbap/tuna-gimbap.md, accessed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RAG는 모델을 다시 학습시키는 방식이 아니라, 질문과 맞는 근거를 먼저 찾아 프롬프트에 붙이는 구조입니다. YOBI는 Oracle AI Database 26ai 한 곳에서 SQL의 객관 조건과 AI Vector Search의 의미 검색을 결합합니다. 서버가 상위 3개와 순서를 동결하고 근거 ID를 붙인 뒤, GPT-OSS 120B가 한 번만 설명을 생성합니다. 마지막 validator가 메뉴·순서·조건·근거 범위를 검사하고, 실패하면 추가 호출 없이 같은 메뉴를 fallback 설명으로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/Users/kimjunggil/Documents/YOBI/mvp/docs/RAG_DESIGN.md, lines 86-170, accessed 2026-08-17</a:t>
            </a:r>
          </a:p>
          <a:p xmlns:a="http://schemas.openxmlformats.org/drawingml/2006/main">
            <a:r>
              <a:t>- /Users/kimjunggil/Documents/YOBI/mvp/docs/IMPLEMENTATION_STATUS.md, lines 5-30 and 52-65, accessed 2026-08-17</a:t>
            </a:r>
          </a:p>
          <a:p xmlns:a="http://schemas.openxmlformats.org/drawingml/2006/main">
            <a:r>
              <a:t>- /Users/kimjunggil/Documents/YOBI/mvp/docs/TEST_REPORT.md, lines 23-78, accessed 2026-08-17</a:t>
            </a:r>
          </a:p>
          <a:p xmlns:a="http://schemas.openxmlformats.org/drawingml/2006/main">
            <a:r>
              <a:t>- /Users/kimjunggil/Documents/YOBI/mvp/backend/app/core/config.py, model and embedding settings, accessed 2026-08-17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c2a520e2b4b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3961cfbc2f47ff" /><Relationship Type="http://schemas.openxmlformats.org/officeDocument/2006/relationships/slideLayout" Target="/ppt/slideLayouts/slideLayout1.xml" Id="R6a1effe2746d45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1effe2746d45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04800" dist="117818" dir="4557825">
              <a:srgbClr val="7A5CFF">
                <a:alpha val="16000"/>
              </a:srgbClr>
            </a:outerShdw>
          </a:effectLst>
        </a:effectStyle>
        <a:effectStyle>
          <a:effectLst>
            <a:outerShdw blurRad="381000" dist="157090" dir="4557825">
              <a:srgbClr val="7A5CFF">
                <a:alpha val="20000"/>
              </a:srgbClr>
            </a:outerShdw>
          </a:effectLst>
        </a:effectStyle>
        <a:effectStyle>
          <a:effectLst>
            <a:outerShdw blurRad="342900" dist="157090" dir="4557825">
              <a:srgbClr val="000000">
                <a:alpha val="22000"/>
              </a:srgbClr>
            </a:outerShdw>
          </a:effectLst>
        </a:effectStyle>
        <a:effectStyle>
          <a:effectLst>
            <a:outerShdw blurRad="323850" dist="138686" dir="4443276">
              <a:srgbClr val="000000">
                <a:alpha val="22000"/>
              </a:srgbClr>
            </a:outerShdw>
          </a:effectLst>
        </a:effectStyle>
        <a:effectStyle>
          <a:effectLst>
            <a:outerShdw blurRad="342900" dist="157090" dir="4557825">
              <a:srgbClr val="7A5CFF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069fd4505462c" /><Relationship Type="http://schemas.openxmlformats.org/officeDocument/2006/relationships/notesSlide" Target="/ppt/notesSlides/notesSlide1.xml" Id="R811bfa9e5fa845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d9e3f98024b80" /><Relationship Type="http://schemas.openxmlformats.org/officeDocument/2006/relationships/notesSlide" Target="/ppt/notesSlides/notesSlide2.xml" Id="R4f72d16c6c6641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ee78074994b9a" /><Relationship Type="http://schemas.openxmlformats.org/officeDocument/2006/relationships/notesSlide" Target="/ppt/notesSlides/notesSlide3.xml" Id="R079dce84971d4f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090D"/>
            </a:gs>
            <a:gs pos="58000">
              <a:srgbClr val="0D111A"/>
            </a:gs>
            <a:gs pos="100000">
              <a:srgbClr val="090B11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ambient-glow-top">
            <a:extLst xmlns:a="http://schemas.openxmlformats.org/drawingml/2006/main">
              <a:ext uri="{FF2B5EF4-FFF2-40B4-BE49-F238E27FC236}">
                <a16:creationId xmlns:a16="http://schemas.microsoft.com/office/drawing/2014/main" id="{FE55ACF9-4509-4CF8-B59D-E0DC0830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0"/>
            <a:ext cx="2857500" cy="2857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A5CFF">
                  <a:alpha val="24000"/>
                </a:srgbClr>
              </a:gs>
              <a:gs pos="46000">
                <a:srgbClr val="7A5CFF">
                  <a:alpha val="8000"/>
                </a:srgbClr>
              </a:gs>
              <a:gs pos="100000">
                <a:srgbClr val="7A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ambient-glow-bottom">
            <a:extLst xmlns:a="http://schemas.openxmlformats.org/drawingml/2006/main">
              <a:ext uri="{FF2B5EF4-FFF2-40B4-BE49-F238E27FC236}">
                <a16:creationId xmlns:a16="http://schemas.microsoft.com/office/drawing/2014/main" id="{3DFB038D-FDF3-47D2-8DBE-302319E2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143500"/>
            <a:ext cx="2476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4D72">
                  <a:alpha val="14000"/>
                </a:srgbClr>
              </a:gs>
              <a:gs pos="52000">
                <a:srgbClr val="FF4D72">
                  <a:alpha val="4000"/>
                </a:srgbClr>
              </a:gs>
              <a:gs pos="100000">
                <a:srgbClr val="FF4D7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accent-rail">
            <a:extLst xmlns:a="http://schemas.openxmlformats.org/drawingml/2006/main">
              <a:ext uri="{FF2B5EF4-FFF2-40B4-BE49-F238E27FC236}">
                <a16:creationId xmlns:a16="http://schemas.microsoft.com/office/drawing/2014/main" id="{CE0D900D-9D6B-4B96-B25D-5FD96445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342900"/>
            <a:ext cx="38100" cy="6172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F4D72"/>
              </a:gs>
              <a:gs pos="100000">
                <a:srgbClr val="7A5C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section-1">
            <a:extLst xmlns:a="http://schemas.openxmlformats.org/drawingml/2006/main">
              <a:ext uri="{FF2B5EF4-FFF2-40B4-BE49-F238E27FC236}">
                <a16:creationId xmlns:a16="http://schemas.microsoft.com/office/drawing/2014/main" id="{745EE0D1-A894-425E-A886-6F5529ED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4D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4D72"/>
                </a:solidFill>
                <a:latin typeface="Apple SD Gothic Neo"/>
                <a:ea typeface="Apple SD Gothic Neo"/>
                <a:cs typeface="Apple SD Gothic Neo"/>
              </a:rPr>
              <a:t>03 · TECH ARCHITECTURE / LLM</a:t>
            </a:r>
          </a:p>
        </p:txBody>
      </p:sp>
      <p:sp>
        <p:nvSpPr>
          <p:cNvPr id="5" name="wordmark-1">
            <a:extLst xmlns:a="http://schemas.openxmlformats.org/drawingml/2006/main">
              <a:ext uri="{FF2B5EF4-FFF2-40B4-BE49-F238E27FC236}">
                <a16:creationId xmlns:a16="http://schemas.microsoft.com/office/drawing/2014/main" id="{4E2AB862-E804-49E6-ABDE-D9A37553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385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YOBI  /  SPACE VECTOR</a:t>
            </a:r>
          </a:p>
        </p:txBody>
      </p:sp>
      <p:sp>
        <p:nvSpPr>
          <p:cNvPr id="6" name="title-1-1">
            <a:extLst xmlns:a="http://schemas.openxmlformats.org/drawingml/2006/main">
              <a:ext uri="{FF2B5EF4-FFF2-40B4-BE49-F238E27FC236}">
                <a16:creationId xmlns:a16="http://schemas.microsoft.com/office/drawing/2014/main" id="{C586A5C3-5765-4FDA-B40B-47460D1D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추천은 서버가 결정하고,</a:t>
            </a:r>
          </a:p>
        </p:txBody>
      </p:sp>
      <p:sp>
        <p:nvSpPr>
          <p:cNvPr id="7" name="title-1-2">
            <a:extLst xmlns:a="http://schemas.openxmlformats.org/drawingml/2006/main">
              <a:ext uri="{FF2B5EF4-FFF2-40B4-BE49-F238E27FC236}">
                <a16:creationId xmlns:a16="http://schemas.microsoft.com/office/drawing/2014/main" id="{D03D58F1-690A-434B-8177-DEE2AB95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gradFill>
                  <a:gsLst>
                    <a:gs pos="0">
                      <a:srgbClr val="FF8B75"/>
                    </a:gs>
                    <a:gs pos="100000">
                      <a:srgbClr val="B29CFF"/>
                    </a:gs>
                  </a:gsLst>
                  <a:lin ang="0"/>
                </a:gradFill>
                <a:latin typeface="Apple SD Gothic Neo"/>
                <a:ea typeface="Apple SD Gothic Neo"/>
                <a:cs typeface="Apple SD Gothic Neo"/>
              </a:rPr>
              <a:t>LLM은 근거를 설명합니다</a:t>
            </a:r>
          </a:p>
        </p:txBody>
      </p:sp>
      <p:sp>
        <p:nvSpPr>
          <p:cNvPr id="8" name="subtitle-1">
            <a:extLst xmlns:a="http://schemas.openxmlformats.org/drawingml/2006/main">
              <a:ext uri="{FF2B5EF4-FFF2-40B4-BE49-F238E27FC236}">
                <a16:creationId xmlns:a16="http://schemas.microsoft.com/office/drawing/2014/main" id="{AD0105E4-786B-4650-A055-D162E67D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971550"/>
            <a:ext cx="2695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결정은 안정적으로</a:t>
            </a:r>
          </a:p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설명은 사람답게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3A737-A6EA-45D8-BBF6-168831AB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0" name="server-label">
            <a:extLst xmlns:a="http://schemas.openxmlformats.org/drawingml/2006/main">
              <a:ext uri="{FF2B5EF4-FFF2-40B4-BE49-F238E27FC236}">
                <a16:creationId xmlns:a16="http://schemas.microsoft.com/office/drawing/2014/main" id="{85F8A3EB-9DD7-43B4-969B-58FC8572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4D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4D72"/>
                </a:solidFill>
                <a:latin typeface="Apple SD Gothic Neo"/>
                <a:ea typeface="Apple SD Gothic Neo"/>
                <a:cs typeface="Apple SD Gothic Neo"/>
              </a:rPr>
              <a:t>SERVER  /  DECISION</a:t>
            </a:r>
          </a:p>
        </p:txBody>
      </p:sp>
      <p:sp>
        <p:nvSpPr>
          <p:cNvPr id="11" name="llm-label">
            <a:extLst xmlns:a="http://schemas.openxmlformats.org/drawingml/2006/main">
              <a:ext uri="{FF2B5EF4-FFF2-40B4-BE49-F238E27FC236}">
                <a16:creationId xmlns:a16="http://schemas.microsoft.com/office/drawing/2014/main" id="{217AB8E0-54A9-4F29-8E73-8D996BE4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43150"/>
            <a:ext cx="3476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LLM  /  COMMUNICATION</a:t>
            </a:r>
          </a:p>
        </p:txBody>
      </p:sp>
      <p:sp>
        <p:nvSpPr>
          <p:cNvPr id="12" name="server-node-1">
            <a:extLst xmlns:a="http://schemas.openxmlformats.org/drawingml/2006/main">
              <a:ext uri="{FF2B5EF4-FFF2-40B4-BE49-F238E27FC236}">
                <a16:creationId xmlns:a16="http://schemas.microsoft.com/office/drawing/2014/main" id="{FCD0F7ED-4879-473D-8FC1-FCDC18CE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19450"/>
            <a:ext cx="18478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121823"/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13" name="server-node-1-number">
            <a:extLst xmlns:a="http://schemas.openxmlformats.org/drawingml/2006/main">
              <a:ext uri="{FF2B5EF4-FFF2-40B4-BE49-F238E27FC236}">
                <a16:creationId xmlns:a16="http://schemas.microsoft.com/office/drawing/2014/main" id="{7163ACC4-09FE-4307-82F6-BDEAA6D7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4" name="server-node-1-title">
            <a:extLst xmlns:a="http://schemas.openxmlformats.org/drawingml/2006/main">
              <a:ext uri="{FF2B5EF4-FFF2-40B4-BE49-F238E27FC236}">
                <a16:creationId xmlns:a16="http://schemas.microsoft.com/office/drawing/2014/main" id="{300F22C1-5738-4CFA-B666-3974E634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객관 조건 필터</a:t>
            </a:r>
          </a:p>
        </p:txBody>
      </p:sp>
      <p:sp>
        <p:nvSpPr>
          <p:cNvPr id="15" name="server-node-1-body">
            <a:extLst xmlns:a="http://schemas.openxmlformats.org/drawingml/2006/main">
              <a:ext uri="{FF2B5EF4-FFF2-40B4-BE49-F238E27FC236}">
                <a16:creationId xmlns:a16="http://schemas.microsoft.com/office/drawing/2014/main" id="{A34D4597-2B64-40A2-AF02-54301B7E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배달지역 · 판매상태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가격 · 검수된 맵기</a:t>
            </a:r>
          </a:p>
        </p:txBody>
      </p:sp>
      <p:sp>
        <p:nvSpPr>
          <p:cNvPr id="16" name="server-node-2">
            <a:extLst xmlns:a="http://schemas.openxmlformats.org/drawingml/2006/main">
              <a:ext uri="{FF2B5EF4-FFF2-40B4-BE49-F238E27FC236}">
                <a16:creationId xmlns:a16="http://schemas.microsoft.com/office/drawing/2014/main" id="{E41AA033-57F1-4EE1-BB89-0A9385A2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219450"/>
            <a:ext cx="18478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121823"/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17" name="server-node-2-number">
            <a:extLst xmlns:a="http://schemas.openxmlformats.org/drawingml/2006/main">
              <a:ext uri="{FF2B5EF4-FFF2-40B4-BE49-F238E27FC236}">
                <a16:creationId xmlns:a16="http://schemas.microsoft.com/office/drawing/2014/main" id="{A3842DC6-7B95-48D2-AD77-057876BD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8" name="server-node-2-title">
            <a:extLst xmlns:a="http://schemas.openxmlformats.org/drawingml/2006/main">
              <a:ext uri="{FF2B5EF4-FFF2-40B4-BE49-F238E27FC236}">
                <a16:creationId xmlns:a16="http://schemas.microsoft.com/office/drawing/2014/main" id="{E94931E1-938A-48AD-9843-95132197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9570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취향 지원 검증</a:t>
            </a:r>
          </a:p>
        </p:txBody>
      </p:sp>
      <p:sp>
        <p:nvSpPr>
          <p:cNvPr id="19" name="server-node-2-body">
            <a:extLst xmlns:a="http://schemas.openxmlformats.org/drawingml/2006/main">
              <a:ext uri="{FF2B5EF4-FFF2-40B4-BE49-F238E27FC236}">
                <a16:creationId xmlns:a16="http://schemas.microsoft.com/office/drawing/2014/main" id="{0116AF34-5B87-489C-8D1A-206E74BC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0527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같은 범주 OR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다른 범주 AND</a:t>
            </a:r>
          </a:p>
        </p:txBody>
      </p:sp>
      <p:sp>
        <p:nvSpPr>
          <p:cNvPr id="20" name="server-node-3">
            <a:extLst xmlns:a="http://schemas.openxmlformats.org/drawingml/2006/main">
              <a:ext uri="{FF2B5EF4-FFF2-40B4-BE49-F238E27FC236}">
                <a16:creationId xmlns:a16="http://schemas.microsoft.com/office/drawing/2014/main" id="{0E7784F9-83A8-4BDA-937E-63142C29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3219450"/>
            <a:ext cx="1847850" cy="1352550"/>
          </a:xfrm>
          <a:prstGeom xmlns:a="http://schemas.openxmlformats.org/drawingml/2006/main" prst="roundRect">
            <a:avLst>
              <a:gd name="adj" fmla="val 14085"/>
            </a:avLst>
          </a:prstGeom>
          <a:gradFill xmlns:a="http://schemas.openxmlformats.org/drawingml/2006/main">
            <a:gsLst>
              <a:gs pos="0">
                <a:srgbClr val="251B38"/>
              </a:gs>
              <a:gs pos="100000">
                <a:srgbClr val="161B29"/>
              </a:gs>
            </a:gsLst>
            <a:lin ang="8100000"/>
          </a:gradFill>
          <a:ln xmlns:a="http://schemas.openxmlformats.org/drawingml/2006/main" w="14288">
            <a:solidFill>
              <a:srgbClr val="A68BFF">
                <a:alpha val="50196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server-node-3-number">
            <a:extLst xmlns:a="http://schemas.openxmlformats.org/drawingml/2006/main">
              <a:ext uri="{FF2B5EF4-FFF2-40B4-BE49-F238E27FC236}">
                <a16:creationId xmlns:a16="http://schemas.microsoft.com/office/drawing/2014/main" id="{E509B4E7-1301-4D7A-867C-A3EE812F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2" name="server-node-3-title">
            <a:extLst xmlns:a="http://schemas.openxmlformats.org/drawingml/2006/main">
              <a:ext uri="{FF2B5EF4-FFF2-40B4-BE49-F238E27FC236}">
                <a16:creationId xmlns:a16="http://schemas.microsoft.com/office/drawing/2014/main" id="{7BD13A35-FD8D-41CB-9158-B50DE730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9570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TOP 3 동결</a:t>
            </a:r>
          </a:p>
        </p:txBody>
      </p:sp>
      <p:sp>
        <p:nvSpPr>
          <p:cNvPr id="23" name="server-node-3-body">
            <a:extLst xmlns:a="http://schemas.openxmlformats.org/drawingml/2006/main">
              <a:ext uri="{FF2B5EF4-FFF2-40B4-BE49-F238E27FC236}">
                <a16:creationId xmlns:a16="http://schemas.microsoft.com/office/drawing/2014/main" id="{224A7C7B-107B-44FA-88FC-DE85FA6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0527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명시 점수 · 다양성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고정된 메뉴와 순서</a:t>
            </a:r>
          </a:p>
        </p:txBody>
      </p:sp>
      <p:cxnSp>
        <p:nvCxnSpPr>
          <p:cNvPr id="68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533650" y="3895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D8C">
                <a:alpha val="56471"/>
              </a:srgbClr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629150" y="3895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8BFF">
                <a:alpha val="56471"/>
              </a:srgbClr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80E31-6C72-4046-8DAF-86F67867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0" cy="2514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549"/>
              </a:srgbClr>
            </a:solidFill>
            <a:prstDash val="dash"/>
          </a:ln>
        </p:spPr>
      </p:sp>
      <p:sp>
        <p:nvSpPr>
          <p:cNvPr id="27" name="bounded-input-badge">
            <a:extLst xmlns:a="http://schemas.openxmlformats.org/drawingml/2006/main">
              <a:ext uri="{FF2B5EF4-FFF2-40B4-BE49-F238E27FC236}">
                <a16:creationId xmlns:a16="http://schemas.microsoft.com/office/drawing/2014/main" id="{286F03EF-D359-44CC-B139-657CA6B9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2838450"/>
            <a:ext cx="2590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CFF">
              <a:alpha val="7059"/>
            </a:srgbClr>
          </a:solidFill>
          <a:ln xmlns:a="http://schemas.openxmlformats.org/drawingml/2006/main" w="9525">
            <a:solidFill>
              <a:srgbClr val="9A83FF">
                <a:alpha val="31373"/>
              </a:srgbClr>
            </a:solidFill>
            <a:prstDash val="solid"/>
          </a:ln>
        </p:spPr>
      </p:sp>
      <p:sp>
        <p:nvSpPr>
          <p:cNvPr id="28" name="bounded-input-badge-text">
            <a:extLst xmlns:a="http://schemas.openxmlformats.org/drawingml/2006/main">
              <a:ext uri="{FF2B5EF4-FFF2-40B4-BE49-F238E27FC236}">
                <a16:creationId xmlns:a16="http://schemas.microsoft.com/office/drawing/2014/main" id="{EDA8EFB4-9052-4D2F-A4AA-28BF7360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4797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동결 메뉴 + Wiki 근거만 전달</a:t>
            </a:r>
          </a:p>
        </p:txBody>
      </p:sp>
      <p:sp>
        <p:nvSpPr>
          <p:cNvPr id="29" name="gpt-oss-node">
            <a:extLst xmlns:a="http://schemas.openxmlformats.org/drawingml/2006/main">
              <a:ext uri="{FF2B5EF4-FFF2-40B4-BE49-F238E27FC236}">
                <a16:creationId xmlns:a16="http://schemas.microsoft.com/office/drawing/2014/main" id="{AC2654FC-1231-4629-9358-03EC726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3248025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A5CFF">
                  <a:alpha val="32000"/>
                </a:srgbClr>
              </a:gs>
              <a:gs pos="55000">
                <a:srgbClr val="221C38"/>
              </a:gs>
              <a:gs pos="100000">
                <a:srgbClr val="111722"/>
              </a:gs>
            </a:gsLst>
            <a:path path="shape"/>
          </a:gradFill>
          <a:ln xmlns:a="http://schemas.openxmlformats.org/drawingml/2006/main" w="14288">
            <a:solidFill>
              <a:srgbClr val="B29CFF">
                <a:alpha val="50196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0" name="oci-genai-label">
            <a:extLst xmlns:a="http://schemas.openxmlformats.org/drawingml/2006/main">
              <a:ext uri="{FF2B5EF4-FFF2-40B4-BE49-F238E27FC236}">
                <a16:creationId xmlns:a16="http://schemas.microsoft.com/office/drawing/2014/main" id="{68C90371-6045-4918-B22C-1049C94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71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OCI GENAI</a:t>
            </a:r>
          </a:p>
        </p:txBody>
      </p:sp>
      <p:sp>
        <p:nvSpPr>
          <p:cNvPr id="31" name="gpt-oss-name">
            <a:extLst xmlns:a="http://schemas.openxmlformats.org/drawingml/2006/main">
              <a:ext uri="{FF2B5EF4-FFF2-40B4-BE49-F238E27FC236}">
                <a16:creationId xmlns:a16="http://schemas.microsoft.com/office/drawing/2014/main" id="{96BBD574-98D9-4E82-BA26-26EBF4E2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290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3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GPT-OSS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3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120B</a:t>
            </a:r>
          </a:p>
        </p:txBody>
      </p:sp>
      <p:sp>
        <p:nvSpPr>
          <p:cNvPr id="32" name="one-dispatch">
            <a:extLst xmlns:a="http://schemas.openxmlformats.org/drawingml/2006/main">
              <a:ext uri="{FF2B5EF4-FFF2-40B4-BE49-F238E27FC236}">
                <a16:creationId xmlns:a16="http://schemas.microsoft.com/office/drawing/2014/main" id="{99FB96AB-CFFD-4126-88E9-EADAE47B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529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설명 전용 · 최대 1회</a:t>
            </a:r>
          </a:p>
        </p:txBody>
      </p:sp>
      <p:cxnSp>
        <p:nvCxnSpPr>
          <p:cNvPr id="77" name=""/>
          <p:cNvCxnSpPr>
            <a:stCxn xmlns:a="http://schemas.openxmlformats.org/drawingml/2006/main" id="20" idx="3"/>
            <a:endCxn xmlns:a="http://schemas.openxmlformats.org/drawingml/2006/main" id="29" idx="2"/>
          </p:cNvCxnSpPr>
          <p:nvPr/>
        </p:nvCxnSpPr>
        <p:spPr>
          <a:xfrm xmlns:a="http://schemas.openxmlformats.org/drawingml/2006/main" rot="16200000" flipH="1">
            <a:off x="7424738" y="3195638"/>
            <a:ext cx="209550" cy="16097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A68BFF">
                <a:alpha val="62745"/>
              </a:srgbClr>
            </a:solidFill>
            <a:prstDash val="solid"/>
            <a:tailEnd type="triangle" w="sm" len="sm"/>
          </a:ln>
        </p:spPr>
      </p:cxnSp>
      <p:sp>
        <p:nvSpPr>
          <p:cNvPr id="34" name="llm-output-1">
            <a:extLst xmlns:a="http://schemas.openxmlformats.org/drawingml/2006/main">
              <a:ext uri="{FF2B5EF4-FFF2-40B4-BE49-F238E27FC236}">
                <a16:creationId xmlns:a16="http://schemas.microsoft.com/office/drawing/2014/main" id="{5D8541F5-E371-4710-AD50-AABDFE63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33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선택 이유</a:t>
            </a:r>
          </a:p>
        </p:txBody>
      </p:sp>
      <p:sp>
        <p:nvSpPr>
          <p:cNvPr id="35" name="llm-output-2">
            <a:extLst xmlns:a="http://schemas.openxmlformats.org/drawingml/2006/main">
              <a:ext uri="{FF2B5EF4-FFF2-40B4-BE49-F238E27FC236}">
                <a16:creationId xmlns:a16="http://schemas.microsoft.com/office/drawing/2014/main" id="{2E060004-23B9-468F-8FFB-7FF81D13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38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음식 설명</a:t>
            </a:r>
          </a:p>
        </p:txBody>
      </p:sp>
      <p:sp>
        <p:nvSpPr>
          <p:cNvPr id="36" name="llm-output-3">
            <a:extLst xmlns:a="http://schemas.openxmlformats.org/drawingml/2006/main">
              <a:ext uri="{FF2B5EF4-FFF2-40B4-BE49-F238E27FC236}">
                <a16:creationId xmlns:a16="http://schemas.microsoft.com/office/drawing/2014/main" id="{55AEFF99-065E-44C4-8EAE-9A6131C5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43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다국어 요약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373F3E-4B09-46B5-AA73-08EBFBAA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5757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29C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FCB6D3-1DD1-4059-A237-5C14D588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624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29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025D91-74F5-4929-BB52-E6121020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672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29CFF"/>
            </a:solidFill>
            <a:prstDash val="solid"/>
          </a:ln>
        </p:spPr>
      </p:sp>
      <p:sp>
        <p:nvSpPr>
          <p:cNvPr id="40" name="failsafe-strip">
            <a:extLst xmlns:a="http://schemas.openxmlformats.org/drawingml/2006/main">
              <a:ext uri="{FF2B5EF4-FFF2-40B4-BE49-F238E27FC236}">
                <a16:creationId xmlns:a16="http://schemas.microsoft.com/office/drawing/2014/main" id="{B48247D9-0C07-46E3-B93D-AEB29222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6959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gradFill xmlns:a="http://schemas.openxmlformats.org/drawingml/2006/main">
            <a:gsLst>
              <a:gs pos="0">
                <a:srgbClr val="11231F"/>
              </a:gs>
              <a:gs pos="52000">
                <a:srgbClr val="141724"/>
              </a:gs>
              <a:gs pos="100000">
                <a:srgbClr val="20172A"/>
              </a:gs>
            </a:gsLst>
            <a:lin ang="0"/>
          </a:gradFill>
          <a:ln xmlns:a="http://schemas.openxmlformats.org/drawingml/2006/main" w="9525">
            <a:solidFill>
              <a:srgbClr val="57E0B5">
                <a:alpha val="29020"/>
              </a:srgbClr>
            </a:solidFill>
            <a:prstDash val="solid"/>
          </a:ln>
        </p:spPr>
      </p:sp>
      <p:sp>
        <p:nvSpPr>
          <p:cNvPr id="41" name="failsafe-label">
            <a:extLst xmlns:a="http://schemas.openxmlformats.org/drawingml/2006/main">
              <a:ext uri="{FF2B5EF4-FFF2-40B4-BE49-F238E27FC236}">
                <a16:creationId xmlns:a16="http://schemas.microsoft.com/office/drawing/2014/main" id="{CDFBD4E0-E8A9-45C1-B878-4C356AA0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769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7E0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57E0B5"/>
                </a:solidFill>
                <a:latin typeface="Apple SD Gothic Neo"/>
                <a:ea typeface="Apple SD Gothic Neo"/>
                <a:cs typeface="Apple SD Gothic Neo"/>
              </a:rPr>
              <a:t>FAIL-SAFE</a:t>
            </a:r>
          </a:p>
        </p:txBody>
      </p:sp>
      <p:sp>
        <p:nvSpPr>
          <p:cNvPr id="42" name="failsafe-copy">
            <a:extLst xmlns:a="http://schemas.openxmlformats.org/drawingml/2006/main">
              <a:ext uri="{FF2B5EF4-FFF2-40B4-BE49-F238E27FC236}">
                <a16:creationId xmlns:a16="http://schemas.microsoft.com/office/drawing/2014/main" id="{599A0561-8CDB-4347-A086-69997AED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9775"/>
            <a:ext cx="9248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생성 모델이 멈춰도 메뉴·순위는 유지 — 동일 결과를 Wiki 기반 결정론적 설명으로 제공합니다</a:t>
            </a:r>
          </a:p>
        </p:txBody>
      </p:sp>
      <p:sp>
        <p:nvSpPr>
          <p:cNvPr id="43" name="footer-1">
            <a:extLst xmlns:a="http://schemas.openxmlformats.org/drawingml/2006/main">
              <a:ext uri="{FF2B5EF4-FFF2-40B4-BE49-F238E27FC236}">
                <a16:creationId xmlns:a16="http://schemas.microsoft.com/office/drawing/2014/main" id="{FBF1A2F5-8319-420F-AA08-42250505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YOBI · 근거 기반 AI 푸드 컨시어지</a:t>
            </a:r>
          </a:p>
        </p:txBody>
      </p:sp>
      <p:sp>
        <p:nvSpPr>
          <p:cNvPr id="44" name="page-1">
            <a:extLst xmlns:a="http://schemas.openxmlformats.org/drawingml/2006/main">
              <a:ext uri="{FF2B5EF4-FFF2-40B4-BE49-F238E27FC236}">
                <a16:creationId xmlns:a16="http://schemas.microsoft.com/office/drawing/2014/main" id="{D698B5F7-5358-45BA-82D6-7F8B1E49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01 / 03</a:t>
            </a:r>
          </a:p>
        </p:txBody>
      </p:sp>
    </p:spTree>
    <p:extLst>
      <p:ext uri="{BB962C8B-B14F-4D97-AF65-F5344CB8AC3E}">
        <p14:creationId xmlns:p14="http://schemas.microsoft.com/office/powerpoint/2010/main" val="25631540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090D"/>
            </a:gs>
            <a:gs pos="58000">
              <a:srgbClr val="0D111A"/>
            </a:gs>
            <a:gs pos="100000">
              <a:srgbClr val="090B11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ambient-glow-top">
            <a:extLst xmlns:a="http://schemas.openxmlformats.org/drawingml/2006/main">
              <a:ext uri="{FF2B5EF4-FFF2-40B4-BE49-F238E27FC236}">
                <a16:creationId xmlns:a16="http://schemas.microsoft.com/office/drawing/2014/main" id="{F38142E5-5D22-4D42-8409-CFD974E1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0"/>
            <a:ext cx="2857500" cy="2857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4D72">
                  <a:alpha val="22000"/>
                </a:srgbClr>
              </a:gs>
              <a:gs pos="46000">
                <a:srgbClr val="FF4D72">
                  <a:alpha val="8000"/>
                </a:srgbClr>
              </a:gs>
              <a:gs pos="100000">
                <a:srgbClr val="FF4D7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ambient-glow-bottom">
            <a:extLst xmlns:a="http://schemas.openxmlformats.org/drawingml/2006/main">
              <a:ext uri="{FF2B5EF4-FFF2-40B4-BE49-F238E27FC236}">
                <a16:creationId xmlns:a16="http://schemas.microsoft.com/office/drawing/2014/main" id="{8A968F91-71B0-4D24-9E60-E41C786A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143500"/>
            <a:ext cx="2476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4D72">
                  <a:alpha val="14000"/>
                </a:srgbClr>
              </a:gs>
              <a:gs pos="52000">
                <a:srgbClr val="FF4D72">
                  <a:alpha val="4000"/>
                </a:srgbClr>
              </a:gs>
              <a:gs pos="100000">
                <a:srgbClr val="FF4D7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accent-rail">
            <a:extLst xmlns:a="http://schemas.openxmlformats.org/drawingml/2006/main">
              <a:ext uri="{FF2B5EF4-FFF2-40B4-BE49-F238E27FC236}">
                <a16:creationId xmlns:a16="http://schemas.microsoft.com/office/drawing/2014/main" id="{1E5DD8C8-91FF-4B93-958D-833CE80E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342900"/>
            <a:ext cx="38100" cy="6172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F4D72"/>
              </a:gs>
              <a:gs pos="100000">
                <a:srgbClr val="7A5C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section-2">
            <a:extLst xmlns:a="http://schemas.openxmlformats.org/drawingml/2006/main">
              <a:ext uri="{FF2B5EF4-FFF2-40B4-BE49-F238E27FC236}">
                <a16:creationId xmlns:a16="http://schemas.microsoft.com/office/drawing/2014/main" id="{B8789AE5-37EE-4DD9-8D86-FE281831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4D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4D72"/>
                </a:solidFill>
                <a:latin typeface="Apple SD Gothic Neo"/>
                <a:ea typeface="Apple SD Gothic Neo"/>
                <a:cs typeface="Apple SD Gothic Neo"/>
              </a:rPr>
              <a:t>03 · TECH ARCHITECTURE / LLM</a:t>
            </a:r>
          </a:p>
        </p:txBody>
      </p:sp>
      <p:sp>
        <p:nvSpPr>
          <p:cNvPr id="5" name="wordmark-2">
            <a:extLst xmlns:a="http://schemas.openxmlformats.org/drawingml/2006/main">
              <a:ext uri="{FF2B5EF4-FFF2-40B4-BE49-F238E27FC236}">
                <a16:creationId xmlns:a16="http://schemas.microsoft.com/office/drawing/2014/main" id="{D6CBC2BA-A2DA-4E36-9240-DF4B72C3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385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YOBI  /  SPACE VECTOR</a:t>
            </a:r>
          </a:p>
        </p:txBody>
      </p:sp>
      <p:sp>
        <p:nvSpPr>
          <p:cNvPr id="6" name="title-2-1">
            <a:extLst xmlns:a="http://schemas.openxmlformats.org/drawingml/2006/main">
              <a:ext uri="{FF2B5EF4-FFF2-40B4-BE49-F238E27FC236}">
                <a16:creationId xmlns:a16="http://schemas.microsoft.com/office/drawing/2014/main" id="{A7E036FF-4599-4030-B2E1-F73C6CA5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음식 지식 Wiki가 ‘메뉴명’을</a:t>
            </a:r>
          </a:p>
        </p:txBody>
      </p:sp>
      <p:sp>
        <p:nvSpPr>
          <p:cNvPr id="7" name="title-2-2">
            <a:extLst xmlns:a="http://schemas.openxmlformats.org/drawingml/2006/main">
              <a:ext uri="{FF2B5EF4-FFF2-40B4-BE49-F238E27FC236}">
                <a16:creationId xmlns:a16="http://schemas.microsoft.com/office/drawing/2014/main" id="{FDD91FC4-78EB-4F35-8812-567E8302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gradFill>
                  <a:gsLst>
                    <a:gs pos="0">
                      <a:srgbClr val="FF8B75"/>
                    </a:gs>
                    <a:gs pos="100000">
                      <a:srgbClr val="B29CFF"/>
                    </a:gs>
                  </a:gsLst>
                  <a:lin ang="0"/>
                </a:gradFill>
                <a:latin typeface="Apple SD Gothic Neo"/>
                <a:ea typeface="Apple SD Gothic Neo"/>
                <a:cs typeface="Apple SD Gothic Neo"/>
              </a:rPr>
              <a:t>‘이해 가능한 음식’으로 바꿉니다</a:t>
            </a:r>
          </a:p>
        </p:txBody>
      </p:sp>
      <p:sp>
        <p:nvSpPr>
          <p:cNvPr id="8" name="subtitle-2">
            <a:extLst xmlns:a="http://schemas.openxmlformats.org/drawingml/2006/main">
              <a:ext uri="{FF2B5EF4-FFF2-40B4-BE49-F238E27FC236}">
                <a16:creationId xmlns:a16="http://schemas.microsoft.com/office/drawing/2014/main" id="{42EC5247-E03A-49DB-BA3D-6B587B80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971550"/>
            <a:ext cx="2695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YOBI가 만든</a:t>
            </a:r>
          </a:p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버전형 음식 지식 계층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83DE6-432D-4572-A6BB-FE3EA6D8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0" name="menu-name-label">
            <a:extLst xmlns:a="http://schemas.openxmlformats.org/drawingml/2006/main">
              <a:ext uri="{FF2B5EF4-FFF2-40B4-BE49-F238E27FC236}">
                <a16:creationId xmlns:a16="http://schemas.microsoft.com/office/drawing/2014/main" id="{394BB948-8A5F-4050-A091-58BE03A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MESSY MENU NAMES</a:t>
            </a:r>
          </a:p>
        </p:txBody>
      </p:sp>
      <p:sp>
        <p:nvSpPr>
          <p:cNvPr id="11" name="menu-name-1">
            <a:extLst xmlns:a="http://schemas.openxmlformats.org/drawingml/2006/main">
              <a:ext uri="{FF2B5EF4-FFF2-40B4-BE49-F238E27FC236}">
                <a16:creationId xmlns:a16="http://schemas.microsoft.com/office/drawing/2014/main" id="{50EB6ED0-239F-4897-A63F-66C2B24E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참치김밥</a:t>
            </a:r>
          </a:p>
        </p:txBody>
      </p:sp>
      <p:sp>
        <p:nvSpPr>
          <p:cNvPr id="12" name="menu-name-2">
            <a:extLst xmlns:a="http://schemas.openxmlformats.org/drawingml/2006/main">
              <a:ext uri="{FF2B5EF4-FFF2-40B4-BE49-F238E27FC236}">
                <a16:creationId xmlns:a16="http://schemas.microsoft.com/office/drawing/2014/main" id="{F7170FB1-590C-4283-9B3E-1E815EA4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Tuna kimbap</a:t>
            </a:r>
          </a:p>
        </p:txBody>
      </p:sp>
      <p:sp>
        <p:nvSpPr>
          <p:cNvPr id="13" name="menu-name-3">
            <a:extLst xmlns:a="http://schemas.openxmlformats.org/drawingml/2006/main">
              <a:ext uri="{FF2B5EF4-FFF2-40B4-BE49-F238E27FC236}">
                <a16:creationId xmlns:a16="http://schemas.microsoft.com/office/drawing/2014/main" id="{D8BD511D-A198-4B25-9572-2D5B76AC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참치마요 김밥</a:t>
            </a:r>
          </a:p>
        </p:txBody>
      </p:sp>
      <p:sp>
        <p:nvSpPr>
          <p:cNvPr id="14" name="menu-name-caption">
            <a:extLst xmlns:a="http://schemas.openxmlformats.org/drawingml/2006/main">
              <a:ext uri="{FF2B5EF4-FFF2-40B4-BE49-F238E27FC236}">
                <a16:creationId xmlns:a16="http://schemas.microsoft.com/office/drawing/2014/main" id="{F10BF30C-0F45-4A05-A414-227C9FB4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이름만 달라도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같은 음식 개념일 수 있습니다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EE0B4-673E-4624-A4DB-80F8073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813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8B75">
                <a:alpha val="56471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7A90B-8F07-48BA-A06E-E218BFF8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576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8B75">
                <a:alpha val="56471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6753A-5D19-407C-A0EE-4D7C8555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338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8B75">
                <a:alpha val="56471"/>
              </a:srgbClr>
            </a:solidFill>
            <a:prstDash val="solid"/>
          </a:ln>
        </p:spPr>
      </p:sp>
      <p:sp>
        <p:nvSpPr>
          <p:cNvPr id="18" name="food-wiki-surface">
            <a:extLst xmlns:a="http://schemas.openxmlformats.org/drawingml/2006/main">
              <a:ext uri="{FF2B5EF4-FFF2-40B4-BE49-F238E27FC236}">
                <a16:creationId xmlns:a16="http://schemas.microsoft.com/office/drawing/2014/main" id="{DED6A5FF-510E-4682-BE98-6616D2C0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362200"/>
            <a:ext cx="4953000" cy="33147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171421"/>
              </a:gs>
              <a:gs pos="100000">
                <a:srgbClr val="101722"/>
              </a:gs>
            </a:gsLst>
            <a:lin ang="8100000"/>
          </a:gradFill>
          <a:ln xmlns:a="http://schemas.openxmlformats.org/drawingml/2006/main" w="11430">
            <a:solidFill>
              <a:srgbClr val="FF8B75">
                <a:alpha val="25098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9" name="wiki-badge">
            <a:extLst xmlns:a="http://schemas.openxmlformats.org/drawingml/2006/main">
              <a:ext uri="{FF2B5EF4-FFF2-40B4-BE49-F238E27FC236}">
                <a16:creationId xmlns:a16="http://schemas.microsoft.com/office/drawing/2014/main" id="{C8EDA1FB-C6F2-434E-8CAA-0C1D990B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2571750"/>
            <a:ext cx="24669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72">
              <a:alpha val="6275"/>
            </a:srgbClr>
          </a:solidFill>
          <a:ln xmlns:a="http://schemas.openxmlformats.org/drawingml/2006/main" w="9525">
            <a:solidFill>
              <a:srgbClr val="FF8B75">
                <a:alpha val="28235"/>
              </a:srgbClr>
            </a:solidFill>
            <a:prstDash val="solid"/>
          </a:ln>
        </p:spPr>
      </p:sp>
      <p:sp>
        <p:nvSpPr>
          <p:cNvPr id="20" name="wiki-badge-text">
            <a:extLst xmlns:a="http://schemas.openxmlformats.org/drawingml/2006/main">
              <a:ext uri="{FF2B5EF4-FFF2-40B4-BE49-F238E27FC236}">
                <a16:creationId xmlns:a16="http://schemas.microsoft.com/office/drawing/2014/main" id="{FE9E4E01-98F6-49F3-A7B0-757DA269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581275"/>
            <a:ext cx="2466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YOBI FOOD KNOWLEDGE WIKI</a:t>
            </a:r>
          </a:p>
        </p:txBody>
      </p:sp>
      <p:sp>
        <p:nvSpPr>
          <p:cNvPr id="21" name="wiki-definition">
            <a:extLst xmlns:a="http://schemas.openxmlformats.org/drawingml/2006/main">
              <a:ext uri="{FF2B5EF4-FFF2-40B4-BE49-F238E27FC236}">
                <a16:creationId xmlns:a16="http://schemas.microsoft.com/office/drawing/2014/main" id="{8621A5E4-AF85-42ED-A6E7-7E6FEA4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90850"/>
            <a:ext cx="433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서비스가 사용할 수 있도록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검토·버전 관리되는 음식 지식 계약</a:t>
            </a:r>
          </a:p>
        </p:txBody>
      </p:sp>
      <p:sp>
        <p:nvSpPr>
          <p:cNvPr id="22" name="concept-cuisine">
            <a:extLst xmlns:a="http://schemas.openxmlformats.org/drawingml/2006/main">
              <a:ext uri="{FF2B5EF4-FFF2-40B4-BE49-F238E27FC236}">
                <a16:creationId xmlns:a16="http://schemas.microsoft.com/office/drawing/2014/main" id="{156F0873-DC1A-4F26-B716-87BA2B41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3848100"/>
            <a:ext cx="128587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F5A406-19B2-4D49-89E2-2B7E86E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1038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CUISINE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한국 음식</a:t>
            </a:r>
          </a:p>
        </p:txBody>
      </p:sp>
      <p:sp>
        <p:nvSpPr>
          <p:cNvPr id="24" name="concept-family">
            <a:extLst xmlns:a="http://schemas.openxmlformats.org/drawingml/2006/main">
              <a:ext uri="{FF2B5EF4-FFF2-40B4-BE49-F238E27FC236}">
                <a16:creationId xmlns:a16="http://schemas.microsoft.com/office/drawing/2014/main" id="{A2B35E1A-E948-4E52-A40F-F298B76F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4476750"/>
            <a:ext cx="128587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4D72">
              <a:alpha val="7451"/>
            </a:srgbClr>
          </a:solidFill>
          <a:ln xmlns:a="http://schemas.openxmlformats.org/drawingml/2006/main" w="9525">
            <a:solidFill>
              <a:srgbClr val="FF8B75">
                <a:alpha val="37647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4448D-7D84-4334-BB5F-840D8257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43425"/>
            <a:ext cx="1038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FAMILY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김밥</a:t>
            </a:r>
          </a:p>
        </p:txBody>
      </p:sp>
      <p:sp>
        <p:nvSpPr>
          <p:cNvPr id="26" name="concept-variant">
            <a:extLst xmlns:a="http://schemas.openxmlformats.org/drawingml/2006/main">
              <a:ext uri="{FF2B5EF4-FFF2-40B4-BE49-F238E27FC236}">
                <a16:creationId xmlns:a16="http://schemas.microsoft.com/office/drawing/2014/main" id="{074B25C0-84A0-4D5E-B052-2ACF4D37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5105400"/>
            <a:ext cx="128587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7A5CFF">
              <a:alpha val="8627"/>
            </a:srgbClr>
          </a:solidFill>
          <a:ln xmlns:a="http://schemas.openxmlformats.org/drawingml/2006/main" w="9525">
            <a:solidFill>
              <a:srgbClr val="A68BFF">
                <a:alpha val="43922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F4307-6E5B-47C6-82E8-76B24B7E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72075"/>
            <a:ext cx="1038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VARIANT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참치김밥</a:t>
            </a:r>
          </a:p>
        </p:txBody>
      </p:sp>
      <p:cxnSp>
        <p:nvCxnSpPr>
          <p:cNvPr id="76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519613" y="43243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FFFFFF">
                <a:alpha val="18824"/>
              </a:srgbClr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24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4519613" y="49530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68BFF">
                <a:alpha val="43922"/>
              </a:srgbClr>
            </a:solidFill>
            <a:prstDash val="solid"/>
            <a:tailEnd type="triangle" w="sm" len="sm"/>
          </a:ln>
        </p:spPr>
      </p:cxnSp>
      <p:sp>
        <p:nvSpPr>
          <p:cNvPr id="30" name="wiki-layer-1-label">
            <a:extLst xmlns:a="http://schemas.openxmlformats.org/drawingml/2006/main">
              <a:ext uri="{FF2B5EF4-FFF2-40B4-BE49-F238E27FC236}">
                <a16:creationId xmlns:a16="http://schemas.microsoft.com/office/drawing/2014/main" id="{537CBEC5-670C-4854-9931-D645803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766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IDENTITY</a:t>
            </a:r>
          </a:p>
        </p:txBody>
      </p:sp>
      <p:sp>
        <p:nvSpPr>
          <p:cNvPr id="31" name="wiki-layer-1">
            <a:extLst xmlns:a="http://schemas.openxmlformats.org/drawingml/2006/main">
              <a:ext uri="{FF2B5EF4-FFF2-40B4-BE49-F238E27FC236}">
                <a16:creationId xmlns:a16="http://schemas.microsoft.com/office/drawing/2014/main" id="{7B394ECF-F50E-457C-B7FD-AD02ACD2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52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이름 · 별칭 · 계층 관계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50BE0-5817-4416-A1D2-B544D558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2481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8B75"/>
            </a:solidFill>
            <a:prstDash val="solid"/>
          </a:ln>
        </p:spPr>
      </p:sp>
      <p:sp>
        <p:nvSpPr>
          <p:cNvPr id="33" name="wiki-layer-2-label">
            <a:extLst xmlns:a="http://schemas.openxmlformats.org/drawingml/2006/main">
              <a:ext uri="{FF2B5EF4-FFF2-40B4-BE49-F238E27FC236}">
                <a16:creationId xmlns:a16="http://schemas.microsoft.com/office/drawing/2014/main" id="{47295B39-4B05-45E1-8F8C-4094B233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86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C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C65C"/>
                </a:solidFill>
                <a:latin typeface="Apple SD Gothic Neo"/>
                <a:ea typeface="Apple SD Gothic Neo"/>
                <a:cs typeface="Apple SD Gothic Neo"/>
              </a:rPr>
              <a:t>ESSENTIAL FACTS</a:t>
            </a:r>
          </a:p>
        </p:txBody>
      </p:sp>
      <p:sp>
        <p:nvSpPr>
          <p:cNvPr id="34" name="wiki-layer-2">
            <a:extLst xmlns:a="http://schemas.openxmlformats.org/drawingml/2006/main">
              <a:ext uri="{FF2B5EF4-FFF2-40B4-BE49-F238E27FC236}">
                <a16:creationId xmlns:a16="http://schemas.microsoft.com/office/drawing/2014/main" id="{2EF3B928-B1A1-4866-A4C9-EC9E604C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148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정의 재료 · 조리 방식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1162A9-A3BE-4337-8BCB-88035D01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857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65C"/>
            </a:solidFill>
            <a:prstDash val="solid"/>
          </a:ln>
        </p:spPr>
      </p:sp>
      <p:sp>
        <p:nvSpPr>
          <p:cNvPr id="36" name="wiki-layer-3-label">
            <a:extLst xmlns:a="http://schemas.openxmlformats.org/drawingml/2006/main">
              <a:ext uri="{FF2B5EF4-FFF2-40B4-BE49-F238E27FC236}">
                <a16:creationId xmlns:a16="http://schemas.microsoft.com/office/drawing/2014/main" id="{76CC836C-9E4A-433E-9996-69AF2078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HUMAN PROSE</a:t>
            </a:r>
          </a:p>
        </p:txBody>
      </p:sp>
      <p:sp>
        <p:nvSpPr>
          <p:cNvPr id="37" name="wiki-layer-3">
            <a:extLst xmlns:a="http://schemas.openxmlformats.org/drawingml/2006/main">
              <a:ext uri="{FF2B5EF4-FFF2-40B4-BE49-F238E27FC236}">
                <a16:creationId xmlns:a16="http://schemas.microsoft.com/office/drawing/2014/main" id="{4EC4C898-8E0E-4077-89F7-69F59A40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244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맛 · 식감 · 문화 맥락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893624-2F8D-451C-A909-1E0D96AA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4673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29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4B3D46-E285-41CD-BF06-76290899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67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8BFF">
                <a:alpha val="56471"/>
              </a:srgbClr>
            </a:solidFill>
            <a:prstDash val="solid"/>
          </a:ln>
        </p:spPr>
      </p:sp>
      <p:sp>
        <p:nvSpPr>
          <p:cNvPr id="40" name="grounded-output-label">
            <a:extLst xmlns:a="http://schemas.openxmlformats.org/drawingml/2006/main">
              <a:ext uri="{FF2B5EF4-FFF2-40B4-BE49-F238E27FC236}">
                <a16:creationId xmlns:a16="http://schemas.microsoft.com/office/drawing/2014/main" id="{1B0E7567-34C0-4027-BC7A-FF1216A1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5267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GROUNDED OUTPUT</a:t>
            </a:r>
          </a:p>
        </p:txBody>
      </p:sp>
      <p:sp>
        <p:nvSpPr>
          <p:cNvPr id="41" name="open-quote">
            <a:extLst xmlns:a="http://schemas.openxmlformats.org/drawingml/2006/main">
              <a:ext uri="{FF2B5EF4-FFF2-40B4-BE49-F238E27FC236}">
                <a16:creationId xmlns:a16="http://schemas.microsoft.com/office/drawing/2014/main" id="{F3FD341A-97D2-4554-8E83-1ED8D82E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“</a:t>
            </a:r>
          </a:p>
        </p:txBody>
      </p:sp>
      <p:sp>
        <p:nvSpPr>
          <p:cNvPr id="42" name="grounded-quote">
            <a:extLst xmlns:a="http://schemas.openxmlformats.org/drawingml/2006/main">
              <a:ext uri="{FF2B5EF4-FFF2-40B4-BE49-F238E27FC236}">
                <a16:creationId xmlns:a16="http://schemas.microsoft.com/office/drawing/2014/main" id="{B19958CD-93FC-457D-9AC4-48AD946E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2247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참치김밥은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담백한 밥과 김에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부드러운 참치 속이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더해진 김밥 변형입니다.</a:t>
            </a:r>
          </a:p>
        </p:txBody>
      </p:sp>
      <p:sp>
        <p:nvSpPr>
          <p:cNvPr id="43" name="chunk-caption">
            <a:extLst xmlns:a="http://schemas.openxmlformats.org/drawingml/2006/main">
              <a:ext uri="{FF2B5EF4-FFF2-40B4-BE49-F238E27FC236}">
                <a16:creationId xmlns:a16="http://schemas.microsoft.com/office/drawing/2014/main" id="{3A4E62DC-9214-43E5-8514-F0A33CD0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8157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문단 → chunk → embedding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→ 검색 가능한 설명 근거</a:t>
            </a:r>
          </a:p>
        </p:txBody>
      </p:sp>
      <p:sp>
        <p:nvSpPr>
          <p:cNvPr id="44" name="wiki-boundary-strip">
            <a:extLst xmlns:a="http://schemas.openxmlformats.org/drawingml/2006/main">
              <a:ext uri="{FF2B5EF4-FFF2-40B4-BE49-F238E27FC236}">
                <a16:creationId xmlns:a16="http://schemas.microsoft.com/office/drawing/2014/main" id="{281F7E27-0CE7-457D-ABAF-C34A306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810250"/>
            <a:ext cx="10820400" cy="4762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41419"/>
          </a:solidFill>
          <a:ln xmlns:a="http://schemas.openxmlformats.org/drawingml/2006/main" w="9525">
            <a:solidFill>
              <a:srgbClr val="FF4D72">
                <a:alpha val="32157"/>
              </a:srgbClr>
            </a:solidFill>
            <a:prstDash val="solid"/>
          </a:ln>
        </p:spPr>
      </p:sp>
      <p:sp>
        <p:nvSpPr>
          <p:cNvPr id="45" name="truth-boundary-label">
            <a:extLst xmlns:a="http://schemas.openxmlformats.org/drawingml/2006/main">
              <a:ext uri="{FF2B5EF4-FFF2-40B4-BE49-F238E27FC236}">
                <a16:creationId xmlns:a16="http://schemas.microsoft.com/office/drawing/2014/main" id="{1447646C-C393-48BB-B3DF-CBC645ED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53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TRUTH BOUNDARY</a:t>
            </a:r>
          </a:p>
        </p:txBody>
      </p:sp>
      <p:sp>
        <p:nvSpPr>
          <p:cNvPr id="46" name="truth-boundary-copy">
            <a:extLst xmlns:a="http://schemas.openxmlformats.org/drawingml/2006/main">
              <a:ext uri="{FF2B5EF4-FFF2-40B4-BE49-F238E27FC236}">
                <a16:creationId xmlns:a16="http://schemas.microsoft.com/office/drawing/2014/main" id="{57EB1952-0D32-4DB2-8710-BB5CC05C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9150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일반 음식 지식 ≠ 특정 가게의 실제 레시피 · 할랄 인증 · 메뉴별 맵기</a:t>
            </a:r>
          </a:p>
        </p:txBody>
      </p:sp>
      <p:sp>
        <p:nvSpPr>
          <p:cNvPr id="47" name="footer-2">
            <a:extLst xmlns:a="http://schemas.openxmlformats.org/drawingml/2006/main">
              <a:ext uri="{FF2B5EF4-FFF2-40B4-BE49-F238E27FC236}">
                <a16:creationId xmlns:a16="http://schemas.microsoft.com/office/drawing/2014/main" id="{25211151-40BA-4EEE-8650-E98B50A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YOBI · 근거 기반 AI 푸드 컨시어지</a:t>
            </a:r>
          </a:p>
        </p:txBody>
      </p:sp>
      <p:sp>
        <p:nvSpPr>
          <p:cNvPr id="48" name="page-2">
            <a:extLst xmlns:a="http://schemas.openxmlformats.org/drawingml/2006/main">
              <a:ext uri="{FF2B5EF4-FFF2-40B4-BE49-F238E27FC236}">
                <a16:creationId xmlns:a16="http://schemas.microsoft.com/office/drawing/2014/main" id="{6EE10D3D-4EBE-4873-B5C5-FAFAF464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02 / 03</a:t>
            </a:r>
          </a:p>
        </p:txBody>
      </p:sp>
    </p:spTree>
    <p:extLst>
      <p:ext uri="{BB962C8B-B14F-4D97-AF65-F5344CB8AC3E}">
        <p14:creationId xmlns:p14="http://schemas.microsoft.com/office/powerpoint/2010/main" val="1074374181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090D"/>
            </a:gs>
            <a:gs pos="58000">
              <a:srgbClr val="0D111A"/>
            </a:gs>
            <a:gs pos="100000">
              <a:srgbClr val="090B11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ambient-glow-top">
            <a:extLst xmlns:a="http://schemas.openxmlformats.org/drawingml/2006/main">
              <a:ext uri="{FF2B5EF4-FFF2-40B4-BE49-F238E27FC236}">
                <a16:creationId xmlns:a16="http://schemas.microsoft.com/office/drawing/2014/main" id="{6D046B36-01D6-4816-8DFE-BFA271D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0"/>
            <a:ext cx="2857500" cy="2857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A5CFF">
                  <a:alpha val="24000"/>
                </a:srgbClr>
              </a:gs>
              <a:gs pos="46000">
                <a:srgbClr val="7A5CFF">
                  <a:alpha val="8000"/>
                </a:srgbClr>
              </a:gs>
              <a:gs pos="100000">
                <a:srgbClr val="7A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ambient-glow-bottom">
            <a:extLst xmlns:a="http://schemas.openxmlformats.org/drawingml/2006/main">
              <a:ext uri="{FF2B5EF4-FFF2-40B4-BE49-F238E27FC236}">
                <a16:creationId xmlns:a16="http://schemas.microsoft.com/office/drawing/2014/main" id="{33E3C75D-4AE6-4A7D-B718-415495C2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143500"/>
            <a:ext cx="2476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4D72">
                  <a:alpha val="14000"/>
                </a:srgbClr>
              </a:gs>
              <a:gs pos="52000">
                <a:srgbClr val="FF4D72">
                  <a:alpha val="4000"/>
                </a:srgbClr>
              </a:gs>
              <a:gs pos="100000">
                <a:srgbClr val="FF4D7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accent-rail">
            <a:extLst xmlns:a="http://schemas.openxmlformats.org/drawingml/2006/main">
              <a:ext uri="{FF2B5EF4-FFF2-40B4-BE49-F238E27FC236}">
                <a16:creationId xmlns:a16="http://schemas.microsoft.com/office/drawing/2014/main" id="{61744647-FC40-4F1A-B56F-60BCEBAE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342900"/>
            <a:ext cx="38100" cy="6172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F4D72"/>
              </a:gs>
              <a:gs pos="100000">
                <a:srgbClr val="7A5C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section-3">
            <a:extLst xmlns:a="http://schemas.openxmlformats.org/drawingml/2006/main">
              <a:ext uri="{FF2B5EF4-FFF2-40B4-BE49-F238E27FC236}">
                <a16:creationId xmlns:a16="http://schemas.microsoft.com/office/drawing/2014/main" id="{8C616249-B9C8-4213-8E47-B82D349F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4D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4D72"/>
                </a:solidFill>
                <a:latin typeface="Apple SD Gothic Neo"/>
                <a:ea typeface="Apple SD Gothic Neo"/>
                <a:cs typeface="Apple SD Gothic Neo"/>
              </a:rPr>
              <a:t>03 · TECH ARCHITECTURE / LLM</a:t>
            </a:r>
          </a:p>
        </p:txBody>
      </p:sp>
      <p:sp>
        <p:nvSpPr>
          <p:cNvPr id="5" name="wordmark-3">
            <a:extLst xmlns:a="http://schemas.openxmlformats.org/drawingml/2006/main">
              <a:ext uri="{FF2B5EF4-FFF2-40B4-BE49-F238E27FC236}">
                <a16:creationId xmlns:a16="http://schemas.microsoft.com/office/drawing/2014/main" id="{B08183B4-25BC-4DFF-96D9-64032BE7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385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YOBI  /  SPACE VECTOR</a:t>
            </a:r>
          </a:p>
        </p:txBody>
      </p:sp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270FCFB4-36F1-4B39-81CE-A3C1FCDA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Hybrid RAG는 근거를 찾고,</a:t>
            </a:r>
          </a:p>
        </p:txBody>
      </p:sp>
      <p:sp>
        <p:nvSpPr>
          <p:cNvPr id="7" name="title-3-2">
            <a:extLst xmlns:a="http://schemas.openxmlformats.org/drawingml/2006/main">
              <a:ext uri="{FF2B5EF4-FFF2-40B4-BE49-F238E27FC236}">
                <a16:creationId xmlns:a16="http://schemas.microsoft.com/office/drawing/2014/main" id="{E0E25B4D-EEB7-42CF-A948-6F77BB4C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gradFill>
                  <a:gsLst>
                    <a:gs pos="0">
                      <a:srgbClr val="FF8B75"/>
                    </a:gs>
                    <a:gs pos="100000">
                      <a:srgbClr val="B29CFF"/>
                    </a:gs>
                  </a:gsLst>
                  <a:lin ang="0"/>
                </a:gradFill>
                <a:latin typeface="Apple SD Gothic Neo"/>
                <a:ea typeface="Apple SD Gothic Neo"/>
                <a:cs typeface="Apple SD Gothic Neo"/>
              </a:rPr>
              <a:t>LLM은 그 근거만 읽기 좋게 씁니다</a:t>
            </a:r>
          </a:p>
        </p:txBody>
      </p:sp>
      <p:sp>
        <p:nvSpPr>
          <p:cNvPr id="8" name="subtitle-3">
            <a:extLst xmlns:a="http://schemas.openxmlformats.org/drawingml/2006/main">
              <a:ext uri="{FF2B5EF4-FFF2-40B4-BE49-F238E27FC236}">
                <a16:creationId xmlns:a16="http://schemas.microsoft.com/office/drawing/2014/main" id="{A9016749-2EAC-41E7-852F-241FEFA6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971550"/>
            <a:ext cx="2695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SQL의 정확성 +</a:t>
            </a:r>
          </a:p>
          <a:p xmlns:a="http://schemas.openxmlformats.org/drawingml/2006/main">
            <a:pPr algn="r">
              <a:lnSpc>
                <a:spcPct val="112000"/>
              </a:lnSpc>
              <a:buNone/>
              <a:def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Vector Search의 의미 검색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3DA34-4B10-49AA-9190-70F0DF00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0" name="retrieve-label">
            <a:extLst xmlns:a="http://schemas.openxmlformats.org/drawingml/2006/main">
              <a:ext uri="{FF2B5EF4-FFF2-40B4-BE49-F238E27FC236}">
                <a16:creationId xmlns:a16="http://schemas.microsoft.com/office/drawing/2014/main" id="{E9E08A36-23FA-48E2-9396-6DCA462B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4D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4D72"/>
                </a:solidFill>
                <a:latin typeface="Apple SD Gothic Neo"/>
                <a:ea typeface="Apple SD Gothic Neo"/>
                <a:cs typeface="Apple SD Gothic Neo"/>
              </a:rPr>
              <a:t>RETRIEVE  /  ORACLE AI DATABASE 26ai</a:t>
            </a:r>
          </a:p>
        </p:txBody>
      </p:sp>
      <p:sp>
        <p:nvSpPr>
          <p:cNvPr id="11" name="oracle-surface">
            <a:extLst xmlns:a="http://schemas.openxmlformats.org/drawingml/2006/main">
              <a:ext uri="{FF2B5EF4-FFF2-40B4-BE49-F238E27FC236}">
                <a16:creationId xmlns:a16="http://schemas.microsoft.com/office/drawing/2014/main" id="{E45C7336-9AC1-4AC8-96E4-D5029A80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676525"/>
            <a:ext cx="5638800" cy="2724150"/>
          </a:xfrm>
          <a:prstGeom xmlns:a="http://schemas.openxmlformats.org/drawingml/2006/main" prst="roundRect">
            <a:avLst>
              <a:gd name="adj" fmla="val 8392"/>
            </a:avLst>
          </a:prstGeom>
          <a:gradFill xmlns:a="http://schemas.openxmlformats.org/drawingml/2006/main">
            <a:gsLst>
              <a:gs pos="0">
                <a:srgbClr val="17151F"/>
              </a:gs>
              <a:gs pos="100000">
                <a:srgbClr val="101824"/>
              </a:gs>
            </a:gsLst>
            <a:lin ang="8100000"/>
          </a:gradFill>
          <a:ln xmlns:a="http://schemas.openxmlformats.org/drawingml/2006/main" w="11430">
            <a:solidFill>
              <a:srgbClr val="FF8B75">
                <a:alpha val="27059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2" name="one-db-badge">
            <a:extLst xmlns:a="http://schemas.openxmlformats.org/drawingml/2006/main">
              <a:ext uri="{FF2B5EF4-FFF2-40B4-BE49-F238E27FC236}">
                <a16:creationId xmlns:a16="http://schemas.microsoft.com/office/drawing/2014/main" id="{13067222-F1CA-498F-B644-160924C8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886075"/>
            <a:ext cx="3095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72">
              <a:alpha val="6275"/>
            </a:srgbClr>
          </a:solidFill>
          <a:ln xmlns:a="http://schemas.openxmlformats.org/drawingml/2006/main" w="9525">
            <a:solidFill>
              <a:srgbClr val="FF8B75">
                <a:alpha val="27059"/>
              </a:srgbClr>
            </a:solidFill>
            <a:prstDash val="solid"/>
          </a:ln>
        </p:spPr>
      </p:sp>
      <p:sp>
        <p:nvSpPr>
          <p:cNvPr id="13" name="one-db-badge-text">
            <a:extLst xmlns:a="http://schemas.openxmlformats.org/drawingml/2006/main">
              <a:ext uri="{FF2B5EF4-FFF2-40B4-BE49-F238E27FC236}">
                <a16:creationId xmlns:a16="http://schemas.microsoft.com/office/drawing/2014/main" id="{1562504E-CC44-40C1-AD59-62D9A6C9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ONE DATABASE · NO SEPARATE VECTOR DB</a:t>
            </a:r>
          </a:p>
        </p:txBody>
      </p:sp>
      <p:sp>
        <p:nvSpPr>
          <p:cNvPr id="14" name="sql-lane-label">
            <a:extLst xmlns:a="http://schemas.openxmlformats.org/drawingml/2006/main">
              <a:ext uri="{FF2B5EF4-FFF2-40B4-BE49-F238E27FC236}">
                <a16:creationId xmlns:a16="http://schemas.microsoft.com/office/drawing/2014/main" id="{E91B75DD-BCC4-4DA0-8FB4-7ECD5BF0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EXACT / SQL</a:t>
            </a:r>
          </a:p>
        </p:txBody>
      </p:sp>
      <p:sp>
        <p:nvSpPr>
          <p:cNvPr id="15" name="sql-lane-copy">
            <a:extLst xmlns:a="http://schemas.openxmlformats.org/drawingml/2006/main">
              <a:ext uri="{FF2B5EF4-FFF2-40B4-BE49-F238E27FC236}">
                <a16:creationId xmlns:a16="http://schemas.microsoft.com/office/drawing/2014/main" id="{01617F17-688F-4A82-84FC-31AC9CC5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5225"/>
            <a:ext cx="2190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배달 가능 · 판매 상태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가격 · 검토된 취향 지원</a:t>
            </a:r>
          </a:p>
        </p:txBody>
      </p:sp>
      <p:sp>
        <p:nvSpPr>
          <p:cNvPr id="16" name="sql-lane-caption">
            <a:extLst xmlns:a="http://schemas.openxmlformats.org/drawingml/2006/main">
              <a:ext uri="{FF2B5EF4-FFF2-40B4-BE49-F238E27FC236}">
                <a16:creationId xmlns:a16="http://schemas.microsoft.com/office/drawing/2014/main" id="{39354E43-25BF-4488-B84E-9C040864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8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객관 조건과 후보를 확정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4DF77-1CED-46C5-8634-0EFBB7B7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0" cy="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1765"/>
              </a:srgbClr>
            </a:solidFill>
            <a:prstDash val="dash"/>
          </a:ln>
        </p:spPr>
      </p:sp>
      <p:sp>
        <p:nvSpPr>
          <p:cNvPr id="18" name="vector-lane-label">
            <a:extLst xmlns:a="http://schemas.openxmlformats.org/drawingml/2006/main">
              <a:ext uri="{FF2B5EF4-FFF2-40B4-BE49-F238E27FC236}">
                <a16:creationId xmlns:a16="http://schemas.microsoft.com/office/drawing/2014/main" id="{E76B416B-3ECD-41A5-BC08-397FDBC3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718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VECTOR / LEXICAL</a:t>
            </a:r>
          </a:p>
        </p:txBody>
      </p:sp>
      <p:sp>
        <p:nvSpPr>
          <p:cNvPr id="19" name="vector-lane-copy">
            <a:extLst xmlns:a="http://schemas.openxmlformats.org/drawingml/2006/main">
              <a:ext uri="{FF2B5EF4-FFF2-40B4-BE49-F238E27FC236}">
                <a16:creationId xmlns:a16="http://schemas.microsoft.com/office/drawing/2014/main" id="{2D0A9113-7CE3-449E-88E1-FC8C1106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233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음식 Wiki 문단의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의미·표현 유사도 검색</a:t>
            </a:r>
          </a:p>
        </p:txBody>
      </p:sp>
      <p:sp>
        <p:nvSpPr>
          <p:cNvPr id="20" name="vector-lane-caption">
            <a:extLst xmlns:a="http://schemas.openxmlformats.org/drawingml/2006/main">
              <a:ext uri="{FF2B5EF4-FFF2-40B4-BE49-F238E27FC236}">
                <a16:creationId xmlns:a16="http://schemas.microsoft.com/office/drawing/2014/main" id="{3DC30949-17EA-4723-8460-441BE669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48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설명에 쓸 근거만 제한</a:t>
            </a:r>
          </a:p>
        </p:txBody>
      </p:sp>
      <p:sp>
        <p:nvSpPr>
          <p:cNvPr id="21" name="evidence-pool-bar">
            <a:extLst xmlns:a="http://schemas.openxmlformats.org/drawingml/2006/main">
              <a:ext uri="{FF2B5EF4-FFF2-40B4-BE49-F238E27FC236}">
                <a16:creationId xmlns:a16="http://schemas.microsoft.com/office/drawing/2014/main" id="{27211E60-F995-4BBE-9889-80A7E664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924425"/>
            <a:ext cx="5181600" cy="333375"/>
          </a:xfrm>
          <a:prstGeom xmlns:a="http://schemas.openxmlformats.org/drawingml/2006/main" prst="roundRect">
            <a:avLst>
              <a:gd name="adj" fmla="val 34286"/>
            </a:avLst>
          </a:prstGeom>
          <a:gradFill xmlns:a="http://schemas.openxmlformats.org/drawingml/2006/main">
            <a:gsLst>
              <a:gs pos="0">
                <a:srgbClr val="241923"/>
              </a:gs>
              <a:gs pos="100000">
                <a:srgbClr val="1A1B2A"/>
              </a:gs>
            </a:gsLst>
            <a:lin ang="0"/>
          </a:gradFill>
          <a:ln xmlns:a="http://schemas.openxmlformats.org/drawingml/2006/main" w="9525">
            <a:solidFill>
              <a:srgbClr val="A68BFF">
                <a:alpha val="27059"/>
              </a:srgbClr>
            </a:solidFill>
            <a:prstDash val="solid"/>
          </a:ln>
        </p:spPr>
      </p:sp>
      <p:sp>
        <p:nvSpPr>
          <p:cNvPr id="22" name="evidence-pool-copy">
            <a:extLst xmlns:a="http://schemas.openxmlformats.org/drawingml/2006/main">
              <a:ext uri="{FF2B5EF4-FFF2-40B4-BE49-F238E27FC236}">
                <a16:creationId xmlns:a16="http://schemas.microsoft.com/office/drawing/2014/main" id="{8F34E734-2379-4858-8BA3-2CA056E7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00625"/>
            <a:ext cx="487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FROZEN TOP 3  +  EVIDENCE IDs  +  WIKI PASSAGES</a:t>
            </a:r>
          </a:p>
        </p:txBody>
      </p:sp>
      <p:sp>
        <p:nvSpPr>
          <p:cNvPr id="23" name="rag-llm-node">
            <a:extLst xmlns:a="http://schemas.openxmlformats.org/drawingml/2006/main">
              <a:ext uri="{FF2B5EF4-FFF2-40B4-BE49-F238E27FC236}">
                <a16:creationId xmlns:a16="http://schemas.microsoft.com/office/drawing/2014/main" id="{2F0114C7-F9B3-4D95-8D21-6E945730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276600"/>
            <a:ext cx="1695450" cy="16954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A5CFF">
                  <a:alpha val="36000"/>
                </a:srgbClr>
              </a:gs>
              <a:gs pos="56000">
                <a:srgbClr val="211C36"/>
              </a:gs>
              <a:gs pos="100000">
                <a:srgbClr val="101722"/>
              </a:gs>
            </a:gsLst>
            <a:path path="shape"/>
          </a:gradFill>
          <a:ln xmlns:a="http://schemas.openxmlformats.org/drawingml/2006/main" w="14288">
            <a:solidFill>
              <a:srgbClr val="B29CFF">
                <a:alpha val="5215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24" name="generate-label">
            <a:extLst xmlns:a="http://schemas.openxmlformats.org/drawingml/2006/main">
              <a:ext uri="{FF2B5EF4-FFF2-40B4-BE49-F238E27FC236}">
                <a16:creationId xmlns:a16="http://schemas.microsoft.com/office/drawing/2014/main" id="{B8AAE26D-5DCA-4CF5-A8E1-8CE4C6C1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242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25" name="rag-model-name">
            <a:extLst xmlns:a="http://schemas.openxmlformats.org/drawingml/2006/main">
              <a:ext uri="{FF2B5EF4-FFF2-40B4-BE49-F238E27FC236}">
                <a16:creationId xmlns:a16="http://schemas.microsoft.com/office/drawing/2014/main" id="{394433A9-1233-43A1-9D3F-1085EA63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120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2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GPT-OSS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2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120B</a:t>
            </a:r>
          </a:p>
        </p:txBody>
      </p:sp>
      <p:sp>
        <p:nvSpPr>
          <p:cNvPr id="26" name="rag-model-contract">
            <a:extLst xmlns:a="http://schemas.openxmlformats.org/drawingml/2006/main">
              <a:ext uri="{FF2B5EF4-FFF2-40B4-BE49-F238E27FC236}">
                <a16:creationId xmlns:a16="http://schemas.microsoft.com/office/drawing/2014/main" id="{D48D477E-B46D-4AA1-9A7A-4FF2EC73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5815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6ADBA"/>
                </a:solidFill>
                <a:latin typeface="Apple SD Gothic Neo"/>
                <a:ea typeface="Apple SD Gothic Neo"/>
                <a:cs typeface="Apple SD Gothic Neo"/>
              </a:rPr>
              <a:t>strict JSON · 1회</a:t>
            </a:r>
          </a:p>
        </p:txBody>
      </p:sp>
      <p:cxnSp>
        <p:nvCxnSpPr>
          <p:cNvPr id="77" name=""/>
          <p:cNvCxnSpPr>
            <a:stCxn xmlns:a="http://schemas.openxmlformats.org/drawingml/2006/main" id="11" idx="3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6324600" y="4038600"/>
            <a:ext cx="5715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68BFF">
                <a:alpha val="62745"/>
              </a:srgbClr>
            </a:solidFill>
            <a:prstDash val="solid"/>
            <a:tailEnd type="triangle" w="sm" len="sm"/>
          </a:ln>
        </p:spPr>
      </p:cxnSp>
      <p:sp>
        <p:nvSpPr>
          <p:cNvPr id="28" name="validate-label">
            <a:extLst xmlns:a="http://schemas.openxmlformats.org/drawingml/2006/main">
              <a:ext uri="{FF2B5EF4-FFF2-40B4-BE49-F238E27FC236}">
                <a16:creationId xmlns:a16="http://schemas.microsoft.com/office/drawing/2014/main" id="{A77B9E23-53A9-4DED-B5F1-8D203738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24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57E0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7E0B5"/>
                </a:solidFill>
                <a:latin typeface="Apple SD Gothic Neo"/>
                <a:ea typeface="Apple SD Gothic Neo"/>
                <a:cs typeface="Apple SD Gothic Neo"/>
              </a:rPr>
              <a:t>VALIDATE  /  SHOW</a:t>
            </a:r>
          </a:p>
        </p:txBody>
      </p:sp>
      <p:sp>
        <p:nvSpPr>
          <p:cNvPr id="29" name="validator-surface">
            <a:extLst xmlns:a="http://schemas.openxmlformats.org/drawingml/2006/main">
              <a:ext uri="{FF2B5EF4-FFF2-40B4-BE49-F238E27FC236}">
                <a16:creationId xmlns:a16="http://schemas.microsoft.com/office/drawing/2014/main" id="{9BD64807-1F3E-48AE-B1BF-0C7FC8A2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905125"/>
            <a:ext cx="2381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11201F"/>
          </a:solidFill>
          <a:ln xmlns:a="http://schemas.openxmlformats.org/drawingml/2006/main" w="11430">
            <a:solidFill>
              <a:srgbClr val="57E0B5">
                <a:alpha val="36078"/>
              </a:srgbClr>
            </a:solidFill>
            <a:prstDash val="solid"/>
          </a:ln>
        </p:spPr>
      </p:sp>
      <p:sp>
        <p:nvSpPr>
          <p:cNvPr id="30" name="validator-title">
            <a:extLst xmlns:a="http://schemas.openxmlformats.org/drawingml/2006/main">
              <a:ext uri="{FF2B5EF4-FFF2-40B4-BE49-F238E27FC236}">
                <a16:creationId xmlns:a16="http://schemas.microsoft.com/office/drawing/2014/main" id="{95B28D7A-2BFE-452B-BEAE-FB2304DB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146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7E0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7E0B5"/>
                </a:solidFill>
                <a:latin typeface="Apple SD Gothic Neo"/>
                <a:ea typeface="Apple SD Gothic Neo"/>
                <a:cs typeface="Apple SD Gothic Neo"/>
              </a:rPr>
              <a:t>STRICT VALIDATOR</a:t>
            </a:r>
          </a:p>
        </p:txBody>
      </p:sp>
      <p:sp>
        <p:nvSpPr>
          <p:cNvPr id="31" name="validator-copy">
            <a:extLst xmlns:a="http://schemas.openxmlformats.org/drawingml/2006/main">
              <a:ext uri="{FF2B5EF4-FFF2-40B4-BE49-F238E27FC236}">
                <a16:creationId xmlns:a16="http://schemas.microsoft.com/office/drawing/2014/main" id="{BA0D6BBC-70B1-4908-AD2E-E823EE89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95675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같은 메뉴 ID · 같은 순서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선택 조건 · 근거 ID 범위</a:t>
            </a:r>
          </a:p>
        </p:txBody>
      </p:sp>
      <p:cxnSp>
        <p:nvCxnSpPr>
          <p:cNvPr id="82" name=""/>
          <p:cNvCxnSpPr>
            <a:stCxn xmlns:a="http://schemas.openxmlformats.org/drawingml/2006/main" id="23" idx="6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591550" y="3581400"/>
            <a:ext cx="53340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7E0B5">
                <a:alpha val="56078"/>
              </a:srgbClr>
            </a:solidFill>
            <a:prstDash val="solid"/>
            <a:tailEnd type="triangle" w="sm" len="sm"/>
          </a:ln>
        </p:spPr>
      </p:cxnSp>
      <p:sp>
        <p:nvSpPr>
          <p:cNvPr id="33" name="grounded-cards">
            <a:extLst xmlns:a="http://schemas.openxmlformats.org/drawingml/2006/main">
              <a:ext uri="{FF2B5EF4-FFF2-40B4-BE49-F238E27FC236}">
                <a16:creationId xmlns:a16="http://schemas.microsoft.com/office/drawing/2014/main" id="{0CA3D96D-148A-48F7-9BE5-9430F7D2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4524375"/>
            <a:ext cx="2381250" cy="8763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131926"/>
              </a:gs>
              <a:gs pos="100000">
                <a:srgbClr val="171B28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34" name="grounded-cards-title">
            <a:extLst xmlns:a="http://schemas.openxmlformats.org/drawingml/2006/main">
              <a:ext uri="{FF2B5EF4-FFF2-40B4-BE49-F238E27FC236}">
                <a16:creationId xmlns:a16="http://schemas.microsoft.com/office/drawing/2014/main" id="{4846D14A-07CE-4C9D-836F-D0378D4B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767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GROUNDED CARDS</a:t>
            </a:r>
          </a:p>
        </p:txBody>
      </p:sp>
      <p:sp>
        <p:nvSpPr>
          <p:cNvPr id="35" name="grounded-cards-copy">
            <a:extLst xmlns:a="http://schemas.openxmlformats.org/drawingml/2006/main">
              <a:ext uri="{FF2B5EF4-FFF2-40B4-BE49-F238E27FC236}">
                <a16:creationId xmlns:a16="http://schemas.microsoft.com/office/drawing/2014/main" id="{55EC8D04-F2CE-4BF7-A5A7-D88572B1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1962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서버 사실 + 근거 기반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cxnSp>
        <p:nvCxnSpPr>
          <p:cNvPr id="86" name=""/>
          <p:cNvCxnSpPr>
            <a:stCxn xmlns:a="http://schemas.openxmlformats.org/drawingml/2006/main" id="2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0315575" y="42576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7E0B5">
                <a:alpha val="43922"/>
              </a:srgbClr>
            </a:solidFill>
            <a:prstDash val="solid"/>
            <a:tailEnd type="triangle" w="sm" len="sm"/>
          </a:ln>
        </p:spPr>
      </p:cxnSp>
      <p:sp>
        <p:nvSpPr>
          <p:cNvPr id="37" name="evidence-strip">
            <a:extLst xmlns:a="http://schemas.openxmlformats.org/drawingml/2006/main">
              <a:ext uri="{FF2B5EF4-FFF2-40B4-BE49-F238E27FC236}">
                <a16:creationId xmlns:a16="http://schemas.microsoft.com/office/drawing/2014/main" id="{ACE3A58A-6934-4ADC-88A0-15521A5C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5310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F141E"/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38" name="metric-menus">
            <a:extLst xmlns:a="http://schemas.openxmlformats.org/drawingml/2006/main">
              <a:ext uri="{FF2B5EF4-FFF2-40B4-BE49-F238E27FC236}">
                <a16:creationId xmlns:a16="http://schemas.microsoft.com/office/drawing/2014/main" id="{EF0CA63B-3833-465A-BE81-59D180A7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15,085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6687FC-6B8B-44FB-8E5E-AA54F86A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24575"/>
            <a:ext cx="1028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MENUS</a:t>
            </a:r>
          </a:p>
        </p:txBody>
      </p:sp>
      <p:sp>
        <p:nvSpPr>
          <p:cNvPr id="40" name="metric-concepts">
            <a:extLst xmlns:a="http://schemas.openxmlformats.org/drawingml/2006/main">
              <a:ext uri="{FF2B5EF4-FFF2-40B4-BE49-F238E27FC236}">
                <a16:creationId xmlns:a16="http://schemas.microsoft.com/office/drawing/2014/main" id="{6D468BCC-A636-4660-8B2C-6AA57582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67400"/>
            <a:ext cx="91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8B75"/>
                </a:solidFill>
                <a:latin typeface="Apple SD Gothic Neo"/>
                <a:ea typeface="Apple SD Gothic Neo"/>
                <a:cs typeface="Apple SD Gothic Neo"/>
              </a:rPr>
              <a:t>114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23092C-34A5-44B0-A9E0-537294DA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24575"/>
            <a:ext cx="1181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WIKI CONCEPTS</a:t>
            </a:r>
          </a:p>
        </p:txBody>
      </p:sp>
      <p:sp>
        <p:nvSpPr>
          <p:cNvPr id="42" name="metric-chunks">
            <a:extLst xmlns:a="http://schemas.openxmlformats.org/drawingml/2006/main">
              <a:ext uri="{FF2B5EF4-FFF2-40B4-BE49-F238E27FC236}">
                <a16:creationId xmlns:a16="http://schemas.microsoft.com/office/drawing/2014/main" id="{5D5D5DAA-9C60-4C2A-B3DB-9589308C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867400"/>
            <a:ext cx="91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1,299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203955-8479-4FB6-B31E-0EDA863A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24575"/>
            <a:ext cx="914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CHUNKS</a:t>
            </a:r>
          </a:p>
        </p:txBody>
      </p:sp>
      <p:sp>
        <p:nvSpPr>
          <p:cNvPr id="44" name="metric-mappings">
            <a:extLst xmlns:a="http://schemas.openxmlformats.org/drawingml/2006/main">
              <a:ext uri="{FF2B5EF4-FFF2-40B4-BE49-F238E27FC236}">
                <a16:creationId xmlns:a16="http://schemas.microsoft.com/office/drawing/2014/main" id="{8F09FF2C-4465-4052-8F2A-0902AE9F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67400"/>
            <a:ext cx="91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B29CFF"/>
                </a:solidFill>
                <a:latin typeface="Apple SD Gothic Neo"/>
                <a:ea typeface="Apple SD Gothic Neo"/>
                <a:cs typeface="Apple SD Gothic Neo"/>
              </a:rPr>
              <a:t>1,955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6E30EE-4B22-46A4-9001-9269E9B4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245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HIGH-CONFIDENCE MAPPINGS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315695-444C-44AD-A6C9-C81BCDBD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864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47" name="metric-live">
            <a:extLst xmlns:a="http://schemas.openxmlformats.org/drawingml/2006/main">
              <a:ext uri="{FF2B5EF4-FFF2-40B4-BE49-F238E27FC236}">
                <a16:creationId xmlns:a16="http://schemas.microsoft.com/office/drawing/2014/main" id="{9B277B92-DBDC-498B-B248-EF3A11EC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857875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7E0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7E0B5"/>
                </a:solidFill>
                <a:latin typeface="Apple SD Gothic Neo"/>
                <a:ea typeface="Apple SD Gothic Neo"/>
                <a:cs typeface="Apple SD Gothic Neo"/>
              </a:rPr>
              <a:t>LIVE 5 / 5</a:t>
            </a:r>
          </a:p>
        </p:txBody>
      </p:sp>
      <p:sp>
        <p:nvSpPr>
          <p:cNvPr id="48" name="metric-live-caption">
            <a:extLst xmlns:a="http://schemas.openxmlformats.org/drawingml/2006/main">
              <a:ext uri="{FF2B5EF4-FFF2-40B4-BE49-F238E27FC236}">
                <a16:creationId xmlns:a16="http://schemas.microsoft.com/office/drawing/2014/main" id="{8BA247C3-B6BB-4247-BDA2-64F6412F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9055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7F3EE"/>
                </a:solidFill>
                <a:latin typeface="Apple SD Gothic Neo"/>
                <a:ea typeface="Apple SD Gothic Neo"/>
                <a:cs typeface="Apple SD Gothic Neo"/>
              </a:rPr>
              <a:t>GROUNDED · DIVERSE · STABLE</a:t>
            </a:r>
          </a:p>
        </p:txBody>
      </p:sp>
      <p:sp>
        <p:nvSpPr>
          <p:cNvPr id="49" name="footer-3">
            <a:extLst xmlns:a="http://schemas.openxmlformats.org/drawingml/2006/main">
              <a:ext uri="{FF2B5EF4-FFF2-40B4-BE49-F238E27FC236}">
                <a16:creationId xmlns:a16="http://schemas.microsoft.com/office/drawing/2014/main" id="{C89439C4-F73E-4C4A-994A-B6943A10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YOBI · 근거 기반 AI 푸드 컨시어지</a:t>
            </a:r>
          </a:p>
        </p:txBody>
      </p:sp>
      <p:sp>
        <p:nvSpPr>
          <p:cNvPr id="50" name="page-3">
            <a:extLst xmlns:a="http://schemas.openxmlformats.org/drawingml/2006/main">
              <a:ext uri="{FF2B5EF4-FFF2-40B4-BE49-F238E27FC236}">
                <a16:creationId xmlns:a16="http://schemas.microsoft.com/office/drawing/2014/main" id="{08404F7E-CF92-4443-A4C7-65893328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07888"/>
                </a:solidFill>
                <a:latin typeface="Apple SD Gothic Neo"/>
                <a:ea typeface="Apple SD Gothic Neo"/>
                <a:cs typeface="Apple SD Gothic Neo"/>
              </a:rPr>
              <a:t>03 / 03</a:t>
            </a:r>
          </a:p>
        </p:txBody>
      </p:sp>
    </p:spTree>
    <p:extLst>
      <p:ext uri="{BB962C8B-B14F-4D97-AF65-F5344CB8AC3E}">
        <p14:creationId xmlns:p14="http://schemas.microsoft.com/office/powerpoint/2010/main" val="1126586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04800" dist="117818" dir="4557825">
              <a:srgbClr val="7A5CFF">
                <a:alpha val="16000"/>
              </a:srgbClr>
            </a:outerShdw>
          </a:effectLst>
        </a:effectStyle>
        <a:effectStyle>
          <a:effectLst>
            <a:outerShdw blurRad="381000" dist="157090" dir="4557825">
              <a:srgbClr val="7A5CFF">
                <a:alpha val="20000"/>
              </a:srgbClr>
            </a:outerShdw>
          </a:effectLst>
        </a:effectStyle>
        <a:effectStyle>
          <a:effectLst>
            <a:outerShdw blurRad="342900" dist="157090" dir="4557825">
              <a:srgbClr val="000000">
                <a:alpha val="22000"/>
              </a:srgbClr>
            </a:outerShdw>
          </a:effectLst>
        </a:effectStyle>
        <a:effectStyle>
          <a:effectLst>
            <a:outerShdw blurRad="323850" dist="138686" dir="4443276">
              <a:srgbClr val="000000">
                <a:alpha val="22000"/>
              </a:srgbClr>
            </a:outerShdw>
          </a:effectLst>
        </a:effectStyle>
        <a:effectStyle>
          <a:effectLst>
            <a:outerShdw blurRad="342900" dist="157090" dir="4557825">
              <a:srgbClr val="7A5CFF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2026-08-16T19:34:07.8830000Z</dcterms:created>
  <dcterms:modified xsi:type="dcterms:W3CDTF">2026-08-16T19:34:07.8830000Z</dcterms:modified>
</coreProperties>
</file>